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480175" cx="972025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+1AFQXYDSVncDd+ipp890YbUC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75C051-A5A5-4B10-8B1C-2176D7835C26}">
  <a:tblStyle styleId="{4E75C051-A5A5-4B10-8B1C-2176D7835C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600" y="763587"/>
            <a:ext cx="50292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8962" y="0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5" name="Google Shape;275;p14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/>
          <p:nvPr/>
        </p:nvSpPr>
        <p:spPr>
          <a:xfrm>
            <a:off x="4398962" y="9555162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1" name="Google Shape;291;p16:notes"/>
          <p:cNvSpPr/>
          <p:nvPr>
            <p:ph idx="2" type="sldImg"/>
          </p:nvPr>
        </p:nvSpPr>
        <p:spPr>
          <a:xfrm>
            <a:off x="1057275" y="763587"/>
            <a:ext cx="5656262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0000"/>
          </a:solidFill>
          <a:ln cap="flat" cmpd="sng" w="254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777875" y="4776787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 rot="5400000">
            <a:off x="5372100" y="1931988"/>
            <a:ext cx="5535613" cy="218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body"/>
          </p:nvPr>
        </p:nvSpPr>
        <p:spPr>
          <a:xfrm rot="5400000">
            <a:off x="922338" y="-179387"/>
            <a:ext cx="5535613" cy="6408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 rot="5400000">
            <a:off x="2720975" y="-719138"/>
            <a:ext cx="4276725" cy="8747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669925" y="431800"/>
            <a:ext cx="3135313" cy="15128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/>
          <p:nvPr>
            <p:ph idx="2" type="pic"/>
          </p:nvPr>
        </p:nvSpPr>
        <p:spPr>
          <a:xfrm>
            <a:off x="4132263" y="933450"/>
            <a:ext cx="4921250" cy="4605338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669925" y="1944688"/>
            <a:ext cx="3135313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669925" y="431800"/>
            <a:ext cx="3135313" cy="15128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4132263" y="933450"/>
            <a:ext cx="4921250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669925" y="1944688"/>
            <a:ext cx="3135313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>
            <a:off x="669925" y="344488"/>
            <a:ext cx="8383588" cy="1252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" type="body"/>
          </p:nvPr>
        </p:nvSpPr>
        <p:spPr>
          <a:xfrm>
            <a:off x="669925" y="1589088"/>
            <a:ext cx="4111625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4"/>
          <p:cNvSpPr txBox="1"/>
          <p:nvPr>
            <p:ph idx="2" type="body"/>
          </p:nvPr>
        </p:nvSpPr>
        <p:spPr>
          <a:xfrm>
            <a:off x="669925" y="2366963"/>
            <a:ext cx="4111625" cy="348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3" type="body"/>
          </p:nvPr>
        </p:nvSpPr>
        <p:spPr>
          <a:xfrm>
            <a:off x="4921250" y="1589088"/>
            <a:ext cx="4132263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4"/>
          <p:cNvSpPr txBox="1"/>
          <p:nvPr>
            <p:ph idx="4" type="body"/>
          </p:nvPr>
        </p:nvSpPr>
        <p:spPr>
          <a:xfrm>
            <a:off x="4921250" y="2366963"/>
            <a:ext cx="4132263" cy="348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485775" y="1516063"/>
            <a:ext cx="4297363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4935538" y="1516063"/>
            <a:ext cx="4297362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/>
          <p:nvPr>
            <p:ph type="title"/>
          </p:nvPr>
        </p:nvSpPr>
        <p:spPr>
          <a:xfrm>
            <a:off x="663575" y="1616075"/>
            <a:ext cx="8383588" cy="26955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663575" y="4337050"/>
            <a:ext cx="8383588" cy="1417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>
            <a:off x="485775" y="1516062"/>
            <a:ext cx="8747125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ctrTitle"/>
          </p:nvPr>
        </p:nvSpPr>
        <p:spPr>
          <a:xfrm>
            <a:off x="1214438" y="1060450"/>
            <a:ext cx="7291387" cy="22558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subTitle"/>
          </p:nvPr>
        </p:nvSpPr>
        <p:spPr>
          <a:xfrm>
            <a:off x="1214438" y="3403600"/>
            <a:ext cx="7291387" cy="156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 txBox="1"/>
          <p:nvPr>
            <p:ph type="title"/>
          </p:nvPr>
        </p:nvSpPr>
        <p:spPr>
          <a:xfrm rot="5400000">
            <a:off x="5372894" y="1932782"/>
            <a:ext cx="5534025" cy="218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1" type="body"/>
          </p:nvPr>
        </p:nvSpPr>
        <p:spPr>
          <a:xfrm rot="5400000">
            <a:off x="923132" y="-178593"/>
            <a:ext cx="5534025" cy="6408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0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0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1"/>
          <p:cNvSpPr txBox="1"/>
          <p:nvPr>
            <p:ph type="title"/>
          </p:nvPr>
        </p:nvSpPr>
        <p:spPr>
          <a:xfrm>
            <a:off x="485775" y="258762"/>
            <a:ext cx="8747125" cy="1081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1"/>
          <p:cNvSpPr txBox="1"/>
          <p:nvPr>
            <p:ph idx="1" type="body"/>
          </p:nvPr>
        </p:nvSpPr>
        <p:spPr>
          <a:xfrm rot="5400000">
            <a:off x="2720975" y="-719138"/>
            <a:ext cx="4276725" cy="8747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31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1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2"/>
          <p:cNvSpPr txBox="1"/>
          <p:nvPr>
            <p:ph type="title"/>
          </p:nvPr>
        </p:nvSpPr>
        <p:spPr>
          <a:xfrm>
            <a:off x="669925" y="431800"/>
            <a:ext cx="3135313" cy="15128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2"/>
          <p:cNvSpPr/>
          <p:nvPr>
            <p:ph idx="2" type="pic"/>
          </p:nvPr>
        </p:nvSpPr>
        <p:spPr>
          <a:xfrm>
            <a:off x="4132263" y="933450"/>
            <a:ext cx="4921250" cy="4605338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32"/>
          <p:cNvSpPr txBox="1"/>
          <p:nvPr>
            <p:ph idx="1" type="body"/>
          </p:nvPr>
        </p:nvSpPr>
        <p:spPr>
          <a:xfrm>
            <a:off x="669925" y="1944688"/>
            <a:ext cx="3135313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32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2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3"/>
          <p:cNvSpPr txBox="1"/>
          <p:nvPr>
            <p:ph type="title"/>
          </p:nvPr>
        </p:nvSpPr>
        <p:spPr>
          <a:xfrm>
            <a:off x="669925" y="431800"/>
            <a:ext cx="3135313" cy="15128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3"/>
          <p:cNvSpPr txBox="1"/>
          <p:nvPr>
            <p:ph idx="1" type="body"/>
          </p:nvPr>
        </p:nvSpPr>
        <p:spPr>
          <a:xfrm>
            <a:off x="4132263" y="933450"/>
            <a:ext cx="4921250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2" name="Google Shape;112;p33"/>
          <p:cNvSpPr txBox="1"/>
          <p:nvPr>
            <p:ph idx="2" type="body"/>
          </p:nvPr>
        </p:nvSpPr>
        <p:spPr>
          <a:xfrm>
            <a:off x="669925" y="1944688"/>
            <a:ext cx="3135313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3" name="Google Shape;113;p33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3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3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4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 txBox="1"/>
          <p:nvPr>
            <p:ph type="title"/>
          </p:nvPr>
        </p:nvSpPr>
        <p:spPr>
          <a:xfrm>
            <a:off x="485775" y="258762"/>
            <a:ext cx="8747125" cy="1081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5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5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6"/>
          <p:cNvSpPr txBox="1"/>
          <p:nvPr>
            <p:ph type="title"/>
          </p:nvPr>
        </p:nvSpPr>
        <p:spPr>
          <a:xfrm>
            <a:off x="669925" y="344488"/>
            <a:ext cx="8383588" cy="1252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" type="body"/>
          </p:nvPr>
        </p:nvSpPr>
        <p:spPr>
          <a:xfrm>
            <a:off x="669925" y="1589088"/>
            <a:ext cx="4111625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36"/>
          <p:cNvSpPr txBox="1"/>
          <p:nvPr>
            <p:ph idx="2" type="body"/>
          </p:nvPr>
        </p:nvSpPr>
        <p:spPr>
          <a:xfrm>
            <a:off x="669925" y="2366963"/>
            <a:ext cx="4111625" cy="348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3" type="body"/>
          </p:nvPr>
        </p:nvSpPr>
        <p:spPr>
          <a:xfrm>
            <a:off x="4921250" y="1589088"/>
            <a:ext cx="4132263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0" name="Google Shape;130;p36"/>
          <p:cNvSpPr txBox="1"/>
          <p:nvPr>
            <p:ph idx="4" type="body"/>
          </p:nvPr>
        </p:nvSpPr>
        <p:spPr>
          <a:xfrm>
            <a:off x="4921250" y="2366963"/>
            <a:ext cx="4132263" cy="348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36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6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6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7"/>
          <p:cNvSpPr txBox="1"/>
          <p:nvPr>
            <p:ph type="title"/>
          </p:nvPr>
        </p:nvSpPr>
        <p:spPr>
          <a:xfrm>
            <a:off x="485775" y="258762"/>
            <a:ext cx="8747125" cy="1081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7"/>
          <p:cNvSpPr txBox="1"/>
          <p:nvPr>
            <p:ph idx="1" type="body"/>
          </p:nvPr>
        </p:nvSpPr>
        <p:spPr>
          <a:xfrm>
            <a:off x="485775" y="1516063"/>
            <a:ext cx="4297363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37"/>
          <p:cNvSpPr txBox="1"/>
          <p:nvPr>
            <p:ph idx="2" type="body"/>
          </p:nvPr>
        </p:nvSpPr>
        <p:spPr>
          <a:xfrm>
            <a:off x="4935538" y="1516063"/>
            <a:ext cx="4297362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37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7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7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8"/>
          <p:cNvSpPr txBox="1"/>
          <p:nvPr>
            <p:ph type="title"/>
          </p:nvPr>
        </p:nvSpPr>
        <p:spPr>
          <a:xfrm>
            <a:off x="663575" y="1616075"/>
            <a:ext cx="8383588" cy="26955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8"/>
          <p:cNvSpPr txBox="1"/>
          <p:nvPr>
            <p:ph idx="1" type="body"/>
          </p:nvPr>
        </p:nvSpPr>
        <p:spPr>
          <a:xfrm>
            <a:off x="663575" y="4337050"/>
            <a:ext cx="8383588" cy="1417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4" name="Google Shape;144;p38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8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8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9"/>
          <p:cNvSpPr txBox="1"/>
          <p:nvPr>
            <p:ph type="title"/>
          </p:nvPr>
        </p:nvSpPr>
        <p:spPr>
          <a:xfrm>
            <a:off x="485775" y="258762"/>
            <a:ext cx="8747125" cy="1081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9"/>
          <p:cNvSpPr txBox="1"/>
          <p:nvPr>
            <p:ph idx="1" type="body"/>
          </p:nvPr>
        </p:nvSpPr>
        <p:spPr>
          <a:xfrm>
            <a:off x="485775" y="1516062"/>
            <a:ext cx="8747125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9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0"/>
          <p:cNvSpPr txBox="1"/>
          <p:nvPr>
            <p:ph type="ctrTitle"/>
          </p:nvPr>
        </p:nvSpPr>
        <p:spPr>
          <a:xfrm>
            <a:off x="1214438" y="1060450"/>
            <a:ext cx="7291387" cy="22558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0"/>
          <p:cNvSpPr txBox="1"/>
          <p:nvPr>
            <p:ph idx="1" type="subTitle"/>
          </p:nvPr>
        </p:nvSpPr>
        <p:spPr>
          <a:xfrm>
            <a:off x="1214438" y="3403600"/>
            <a:ext cx="7291387" cy="156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/>
            </a:lvl1pPr>
            <a:lvl2pPr lvl="1" algn="ctr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6" name="Google Shape;156;p40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0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0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85775" y="1516062"/>
            <a:ext cx="8747125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85775" y="5902325"/>
            <a:ext cx="226536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324225" y="5902325"/>
            <a:ext cx="308133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969125" y="5902325"/>
            <a:ext cx="22637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Defaul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9"/>
          <p:cNvSpPr txBox="1"/>
          <p:nvPr>
            <p:ph type="title"/>
          </p:nvPr>
        </p:nvSpPr>
        <p:spPr>
          <a:xfrm>
            <a:off x="485775" y="258762"/>
            <a:ext cx="8747125" cy="1081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7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29"/>
          <p:cNvSpPr txBox="1"/>
          <p:nvPr>
            <p:ph idx="1" type="body"/>
          </p:nvPr>
        </p:nvSpPr>
        <p:spPr>
          <a:xfrm>
            <a:off x="485775" y="1516062"/>
            <a:ext cx="8747125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4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1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9"/>
          <p:cNvSpPr txBox="1"/>
          <p:nvPr>
            <p:ph idx="10" type="dt"/>
          </p:nvPr>
        </p:nvSpPr>
        <p:spPr>
          <a:xfrm>
            <a:off x="485775" y="5903912"/>
            <a:ext cx="2265362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9"/>
          <p:cNvSpPr txBox="1"/>
          <p:nvPr>
            <p:ph idx="11" type="ftr"/>
          </p:nvPr>
        </p:nvSpPr>
        <p:spPr>
          <a:xfrm>
            <a:off x="3324225" y="5903912"/>
            <a:ext cx="3081337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9"/>
          <p:cNvSpPr txBox="1"/>
          <p:nvPr>
            <p:ph idx="12" type="sldNum"/>
          </p:nvPr>
        </p:nvSpPr>
        <p:spPr>
          <a:xfrm>
            <a:off x="6969125" y="5903912"/>
            <a:ext cx="2263775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Recommendation Systems Business Report</a:t>
            </a:r>
            <a:endParaRPr/>
          </a:p>
        </p:txBody>
      </p:sp>
      <p:sp>
        <p:nvSpPr>
          <p:cNvPr id="165" name="Google Shape;165;p1"/>
          <p:cNvSpPr txBox="1"/>
          <p:nvPr>
            <p:ph idx="4294967295" type="body"/>
          </p:nvPr>
        </p:nvSpPr>
        <p:spPr>
          <a:xfrm>
            <a:off x="485775" y="1516062"/>
            <a:ext cx="8747125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 Applied AI and Data Science Program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Mitchell Streeter</a:t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-US" sz="2700">
                <a:solidFill>
                  <a:schemeClr val="lt1"/>
                </a:solidFill>
              </a:rPr>
              <a:t>1/20/26</a:t>
            </a:r>
            <a:endParaRPr sz="27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Item-Item Collaborative Filtering of Large-Scale Music Recommendation</a:t>
            </a:r>
            <a:endParaRPr/>
          </a:p>
        </p:txBody>
      </p:sp>
      <p:sp>
        <p:nvSpPr>
          <p:cNvPr id="172" name="Google Shape;172;p2"/>
          <p:cNvSpPr txBox="1"/>
          <p:nvPr>
            <p:ph idx="4294967295" type="subTitle"/>
          </p:nvPr>
        </p:nvSpPr>
        <p:spPr>
          <a:xfrm>
            <a:off x="485775" y="1516062"/>
            <a:ext cx="87471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Takeaways: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</a:t>
            </a:r>
            <a:r>
              <a:rPr lang="en-US" sz="2200"/>
              <a:t>d</a:t>
            </a: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 scalable music recommendation system</a:t>
            </a:r>
            <a:endParaRPr/>
          </a:p>
          <a:p>
            <a:pPr indent="62864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implicit listening behavior (play counts)</a:t>
            </a:r>
            <a:endParaRPr/>
          </a:p>
          <a:p>
            <a:pPr indent="62864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Balance accuracy, discovery, and scalability</a:t>
            </a:r>
            <a:endParaRPr/>
          </a:p>
          <a:p>
            <a:pPr indent="62864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solution: item–item collaborative filtering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&amp; Objective</a:t>
            </a:r>
            <a:endParaRPr/>
          </a:p>
        </p:txBody>
      </p:sp>
      <p:sp>
        <p:nvSpPr>
          <p:cNvPr id="179" name="Google Shape;179;p3"/>
          <p:cNvSpPr txBox="1"/>
          <p:nvPr>
            <p:ph idx="4294967295" type="body"/>
          </p:nvPr>
        </p:nvSpPr>
        <p:spPr>
          <a:xfrm>
            <a:off x="485775" y="1516062"/>
            <a:ext cx="8747125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Millions of songs → Attention scarcity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C99"/>
              </a:buClr>
              <a:buSzPts val="14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Songs continuing =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C99"/>
              </a:buClr>
              <a:buSzPts val="14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/>
              <a:t>G</a:t>
            </a: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oal: Scalable personalization from behavior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Overview</a:t>
            </a:r>
            <a:endParaRPr/>
          </a:p>
        </p:txBody>
      </p:sp>
      <p:sp>
        <p:nvSpPr>
          <p:cNvPr id="186" name="Google Shape;186;p4"/>
          <p:cNvSpPr txBox="1"/>
          <p:nvPr>
            <p:ph idx="4294967295" type="body"/>
          </p:nvPr>
        </p:nvSpPr>
        <p:spPr>
          <a:xfrm>
            <a:off x="484187" y="3813175"/>
            <a:ext cx="4268787" cy="20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“song_data” structure</a:t>
            </a:r>
            <a:endParaRPr/>
          </a:p>
        </p:txBody>
      </p:sp>
      <p:sp>
        <p:nvSpPr>
          <p:cNvPr id="187" name="Google Shape;187;p4"/>
          <p:cNvSpPr txBox="1"/>
          <p:nvPr>
            <p:ph idx="4294967295" type="body"/>
          </p:nvPr>
        </p:nvSpPr>
        <p:spPr>
          <a:xfrm>
            <a:off x="4967287" y="3813175"/>
            <a:ext cx="4268787" cy="20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“count_data” structure</a:t>
            </a:r>
            <a:endParaRPr/>
          </a:p>
        </p:txBody>
      </p:sp>
      <p:sp>
        <p:nvSpPr>
          <p:cNvPr id="188" name="Google Shape;188;p4"/>
          <p:cNvSpPr txBox="1"/>
          <p:nvPr>
            <p:ph idx="4294967295" type="body"/>
          </p:nvPr>
        </p:nvSpPr>
        <p:spPr>
          <a:xfrm>
            <a:off x="488950" y="1463675"/>
            <a:ext cx="8747125" cy="20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Large scale song metadata and minimal user-item interaction data form the foundation of the recommendation problem</a:t>
            </a:r>
            <a:endParaRPr/>
          </a:p>
        </p:txBody>
      </p:sp>
      <p:pic>
        <p:nvPicPr>
          <p:cNvPr id="189" name="Google Shape;1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2" y="3108325"/>
            <a:ext cx="2986087" cy="19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0225" y="3108325"/>
            <a:ext cx="2984500" cy="1916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Song Metadata Distribution</a:t>
            </a:r>
            <a:endParaRPr/>
          </a:p>
        </p:txBody>
      </p:sp>
      <p:sp>
        <p:nvSpPr>
          <p:cNvPr id="197" name="Google Shape;197;p5"/>
          <p:cNvSpPr txBox="1"/>
          <p:nvPr>
            <p:ph idx="4294967295" type="body"/>
          </p:nvPr>
        </p:nvSpPr>
        <p:spPr>
          <a:xfrm>
            <a:off x="485775" y="1516062"/>
            <a:ext cx="4268787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Song metadata spans multiple decades with </a:t>
            </a:r>
            <a:r>
              <a:rPr lang="en-US" sz="2700"/>
              <a:t>occasional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missing values,</a:t>
            </a:r>
            <a:r>
              <a:rPr lang="en-US"/>
              <a:t> necessitating only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minor sanitization rather than aggressive filtering</a:t>
            </a:r>
            <a:endParaRPr/>
          </a:p>
        </p:txBody>
      </p:sp>
      <p:sp>
        <p:nvSpPr>
          <p:cNvPr id="198" name="Google Shape;198;p5"/>
          <p:cNvSpPr txBox="1"/>
          <p:nvPr>
            <p:ph idx="4294967295" type="body"/>
          </p:nvPr>
        </p:nvSpPr>
        <p:spPr>
          <a:xfrm>
            <a:off x="4967287" y="1516062"/>
            <a:ext cx="4268787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1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 statistics of “song_data.csv” (pre-sanitization)</a:t>
            </a:r>
            <a:endParaRPr/>
          </a:p>
        </p:txBody>
      </p:sp>
      <p:pic>
        <p:nvPicPr>
          <p:cNvPr id="199" name="Google Shape;1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4262" y="1871662"/>
            <a:ext cx="4432300" cy="251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Listening Behavior</a:t>
            </a:r>
            <a:endParaRPr/>
          </a:p>
        </p:txBody>
      </p:sp>
      <p:sp>
        <p:nvSpPr>
          <p:cNvPr id="206" name="Google Shape;206;p6"/>
          <p:cNvSpPr txBox="1"/>
          <p:nvPr>
            <p:ph idx="4294967295" type="body"/>
          </p:nvPr>
        </p:nvSpPr>
        <p:spPr>
          <a:xfrm>
            <a:off x="485775" y="1516062"/>
            <a:ext cx="4268787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 counts </a:t>
            </a:r>
            <a:r>
              <a:rPr lang="en-US" sz="2700"/>
              <a:t>reveal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deep right-skew, </a:t>
            </a:r>
            <a:r>
              <a:rPr lang="en-US" sz="2700"/>
              <a:t>demonstrating a pattern of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repeated listening to a small subset of songs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</a:t>
            </a:r>
            <a:r>
              <a:rPr lang="en-US" sz="2700"/>
              <a:t>warrants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collaborative filtering</a:t>
            </a:r>
            <a:endParaRPr/>
          </a:p>
        </p:txBody>
      </p:sp>
      <p:sp>
        <p:nvSpPr>
          <p:cNvPr id="207" name="Google Shape;207;p6"/>
          <p:cNvSpPr txBox="1"/>
          <p:nvPr>
            <p:ph idx="4294967295" type="body"/>
          </p:nvPr>
        </p:nvSpPr>
        <p:spPr>
          <a:xfrm>
            <a:off x="4967287" y="1516062"/>
            <a:ext cx="4268787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1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 statistics of “count_data.csv” (pre-sanitization)</a:t>
            </a:r>
            <a:endParaRPr/>
          </a:p>
        </p:txBody>
      </p:sp>
      <p:pic>
        <p:nvPicPr>
          <p:cNvPr id="208" name="Google Shape;2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7287" y="1516062"/>
            <a:ext cx="4432300" cy="22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Cleaned Data for Modeling</a:t>
            </a:r>
            <a:endParaRPr/>
          </a:p>
        </p:txBody>
      </p:sp>
      <p:sp>
        <p:nvSpPr>
          <p:cNvPr id="215" name="Google Shape;215;p7"/>
          <p:cNvSpPr txBox="1"/>
          <p:nvPr>
            <p:ph idx="4294967295" type="body"/>
          </p:nvPr>
        </p:nvSpPr>
        <p:spPr>
          <a:xfrm>
            <a:off x="485775" y="1516062"/>
            <a:ext cx="4268787" cy="2039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4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/>
          <p:nvPr>
            <p:ph idx="4294967295" type="body"/>
          </p:nvPr>
        </p:nvSpPr>
        <p:spPr>
          <a:xfrm>
            <a:off x="485775" y="3749675"/>
            <a:ext cx="4268787" cy="20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4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>
            <p:ph idx="4294967295" type="body"/>
          </p:nvPr>
        </p:nvSpPr>
        <p:spPr>
          <a:xfrm>
            <a:off x="4967287" y="1516062"/>
            <a:ext cx="4268787" cy="469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Filtering and deduplication yields a stable, tractable user-item interaction matrix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is optimal for recommendation modeling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Top: Sanitized song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Bottom: Sanitized interaction data</a:t>
            </a:r>
            <a:endParaRPr/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1082675"/>
            <a:ext cx="4408487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3813175"/>
            <a:ext cx="4389437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Latent Preference Structure</a:t>
            </a:r>
            <a:endParaRPr/>
          </a:p>
        </p:txBody>
      </p:sp>
      <p:sp>
        <p:nvSpPr>
          <p:cNvPr id="226" name="Google Shape;226;p8"/>
          <p:cNvSpPr txBox="1"/>
          <p:nvPr>
            <p:ph idx="4294967295" type="body"/>
          </p:nvPr>
        </p:nvSpPr>
        <p:spPr>
          <a:xfrm>
            <a:off x="485775" y="1516062"/>
            <a:ext cx="4268787" cy="454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1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Structure of Latent Preferences</a:t>
            </a:r>
            <a:endParaRPr/>
          </a:p>
        </p:txBody>
      </p:sp>
      <p:sp>
        <p:nvSpPr>
          <p:cNvPr id="227" name="Google Shape;227;p8"/>
          <p:cNvSpPr txBox="1"/>
          <p:nvPr>
            <p:ph idx="4294967295" type="body"/>
          </p:nvPr>
        </p:nvSpPr>
        <p:spPr>
          <a:xfrm>
            <a:off x="4967287" y="1516062"/>
            <a:ext cx="4268787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moderate number of latent factors capture most of the variance in listening behavior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reflects overlapping musical preferences</a:t>
            </a:r>
            <a:endParaRPr/>
          </a:p>
        </p:txBody>
      </p:sp>
      <p:pic>
        <p:nvPicPr>
          <p:cNvPr id="228" name="Google Shape;2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1516062"/>
            <a:ext cx="4268787" cy="3421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Preference Similarity</a:t>
            </a:r>
            <a:endParaRPr/>
          </a:p>
        </p:txBody>
      </p:sp>
      <p:sp>
        <p:nvSpPr>
          <p:cNvPr id="235" name="Google Shape;235;p9"/>
          <p:cNvSpPr txBox="1"/>
          <p:nvPr>
            <p:ph idx="4294967295" type="body"/>
          </p:nvPr>
        </p:nvSpPr>
        <p:spPr>
          <a:xfrm>
            <a:off x="485775" y="1516062"/>
            <a:ext cx="4268787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Users cluster locally in latent space in “neighborhoods”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lang="en-US" sz="2700"/>
              <a:t>This i</a:t>
            </a: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ndicates shared listening patterns, without rigid preference segmenting</a:t>
            </a:r>
            <a:endParaRPr/>
          </a:p>
        </p:txBody>
      </p:sp>
      <p:sp>
        <p:nvSpPr>
          <p:cNvPr id="236" name="Google Shape;236;p9"/>
          <p:cNvSpPr txBox="1"/>
          <p:nvPr>
            <p:ph idx="4294967295" type="body"/>
          </p:nvPr>
        </p:nvSpPr>
        <p:spPr>
          <a:xfrm>
            <a:off x="4967287" y="1516062"/>
            <a:ext cx="4268787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T-SNE graph of latent </a:t>
            </a:r>
            <a:r>
              <a:rPr b="0" i="1" lang="en-US" sz="2700" u="sng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factors</a:t>
            </a:r>
            <a:endParaRPr/>
          </a:p>
        </p:txBody>
      </p:sp>
      <p:pic>
        <p:nvPicPr>
          <p:cNvPr id="237" name="Google Shape;2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1275" y="1568450"/>
            <a:ext cx="3748087" cy="29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Song Audience Overlap</a:t>
            </a:r>
            <a:endParaRPr/>
          </a:p>
        </p:txBody>
      </p:sp>
      <p:pic>
        <p:nvPicPr>
          <p:cNvPr id="244" name="Google Shape;244;p10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75" y="1600200"/>
            <a:ext cx="4633912" cy="352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 txBox="1"/>
          <p:nvPr>
            <p:ph idx="4294967295" type="body"/>
          </p:nvPr>
        </p:nvSpPr>
        <p:spPr>
          <a:xfrm>
            <a:off x="4967287" y="1516062"/>
            <a:ext cx="4268787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Songs with similar audiences appear closer in latent space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enables effective item-item similarity computing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Accuracy of Recommendations</a:t>
            </a:r>
            <a:endParaRPr/>
          </a:p>
        </p:txBody>
      </p:sp>
      <p:sp>
        <p:nvSpPr>
          <p:cNvPr id="252" name="Google Shape;252;p11"/>
          <p:cNvSpPr txBox="1"/>
          <p:nvPr>
            <p:ph idx="4294967295" type="body"/>
          </p:nvPr>
        </p:nvSpPr>
        <p:spPr>
          <a:xfrm>
            <a:off x="485775" y="1479550"/>
            <a:ext cx="8747125" cy="2039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4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 txBox="1"/>
          <p:nvPr>
            <p:ph idx="4294967295" type="body"/>
          </p:nvPr>
        </p:nvSpPr>
        <p:spPr>
          <a:xfrm>
            <a:off x="485775" y="3375025"/>
            <a:ext cx="8747125" cy="277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Precision@k for item-item music recommendation systems: Precision decreases as number of recommendations increases</a:t>
            </a:r>
            <a:endParaRPr/>
          </a:p>
        </p:txBody>
      </p:sp>
      <p:pic>
        <p:nvPicPr>
          <p:cNvPr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1479550"/>
            <a:ext cx="8747125" cy="336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Performance Comparison (Precision@k)</a:t>
            </a:r>
            <a:endParaRPr/>
          </a:p>
        </p:txBody>
      </p:sp>
      <p:graphicFrame>
        <p:nvGraphicFramePr>
          <p:cNvPr id="261" name="Google Shape;261;p12"/>
          <p:cNvGraphicFramePr/>
          <p:nvPr/>
        </p:nvGraphicFramePr>
        <p:xfrm>
          <a:off x="58737" y="14906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{4E75C051-A5A5-4B10-8B1C-2176D7835C26}</a:tableStyleId>
              </a:tblPr>
              <a:tblGrid>
                <a:gridCol w="1627175"/>
                <a:gridCol w="1206500"/>
                <a:gridCol w="1204900"/>
                <a:gridCol w="12065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Precision@5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Precision@10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Precision@20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Popularity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0.0151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.0125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User-User CF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0.0255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0.0193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.0144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Item-Item CF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0.0243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0.0187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.0135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2" name="Google Shape;262;p12"/>
          <p:cNvSpPr txBox="1"/>
          <p:nvPr>
            <p:ph idx="4294967295" type="body"/>
          </p:nvPr>
        </p:nvSpPr>
        <p:spPr>
          <a:xfrm>
            <a:off x="5447500" y="1490650"/>
            <a:ext cx="40332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Collaborative filtering methods &gt; Popularity-based methods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Item-item methods showed the greatest </a:t>
            </a:r>
            <a:r>
              <a:rPr lang="en-US" sz="2700"/>
              <a:t>consistency (displayed in bold)</a:t>
            </a:r>
            <a:endParaRPr/>
          </a:p>
        </p:txBody>
      </p:sp>
      <p:sp>
        <p:nvSpPr>
          <p:cNvPr id="263" name="Google Shape;263;p12"/>
          <p:cNvSpPr txBox="1"/>
          <p:nvPr>
            <p:ph idx="4294967295" type="body"/>
          </p:nvPr>
        </p:nvSpPr>
        <p:spPr>
          <a:xfrm>
            <a:off x="485775" y="3749675"/>
            <a:ext cx="8747125" cy="20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Precision@k comparisons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across recommendation models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Tuning and Validation</a:t>
            </a:r>
            <a:endParaRPr/>
          </a:p>
        </p:txBody>
      </p:sp>
      <p:sp>
        <p:nvSpPr>
          <p:cNvPr id="270" name="Google Shape;270;p13"/>
          <p:cNvSpPr txBox="1"/>
          <p:nvPr>
            <p:ph idx="4294967295" type="body"/>
          </p:nvPr>
        </p:nvSpPr>
        <p:spPr>
          <a:xfrm>
            <a:off x="274637" y="3932237"/>
            <a:ext cx="9234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GridSearchCV results for matrix factorization and model tuning. </a:t>
            </a:r>
            <a:r>
              <a:rPr b="0" i="1" lang="en-US" sz="2700" u="sng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1.31</a:t>
            </a: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RMSE with </a:t>
            </a:r>
            <a:r>
              <a:rPr b="0" i="1" lang="en-US" sz="2700" u="sng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latent factors indicates resilient framework; </a:t>
            </a:r>
            <a:r>
              <a:rPr b="0" i="1" lang="en-US" sz="2700" u="sng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.1</a:t>
            </a: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reg_all/”SurpriseSVD” is </a:t>
            </a:r>
            <a:r>
              <a:rPr i="1" lang="en-US" sz="2700"/>
              <a:t>appropriate </a:t>
            </a: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sparse feedback</a:t>
            </a:r>
            <a:endParaRPr/>
          </a:p>
        </p:txBody>
      </p:sp>
      <p:pic>
        <p:nvPicPr>
          <p:cNvPr id="271" name="Google Shape;271;p13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3292475"/>
            <a:ext cx="8747125" cy="56673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/>
          <p:nvPr/>
        </p:nvSpPr>
        <p:spPr>
          <a:xfrm>
            <a:off x="-1587" y="1279525"/>
            <a:ext cx="9694862" cy="1401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GridsearchCV selects an SVD configuration with 100 latent factors, strong regularization</a:t>
            </a:r>
            <a:r>
              <a:rPr lang="en-US" sz="2700">
                <a:solidFill>
                  <a:schemeClr val="lt1"/>
                </a:solidFill>
              </a:rPr>
              <a:t>, achieving </a:t>
            </a:r>
            <a:r>
              <a:rPr b="0" i="0" lang="en-US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RMSE ~ 1.31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Tuned Model Precision</a:t>
            </a:r>
            <a:endParaRPr/>
          </a:p>
        </p:txBody>
      </p:sp>
      <p:sp>
        <p:nvSpPr>
          <p:cNvPr id="279" name="Google Shape;279;p14"/>
          <p:cNvSpPr txBox="1"/>
          <p:nvPr>
            <p:ph idx="4294967295" type="body"/>
          </p:nvPr>
        </p:nvSpPr>
        <p:spPr>
          <a:xfrm>
            <a:off x="485775" y="1516062"/>
            <a:ext cx="4268787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Tuned SVD model focuses relevant recommendations </a:t>
            </a:r>
            <a:r>
              <a:rPr lang="en-US" sz="2700"/>
              <a:t>in </a:t>
            </a: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top section of the ranking list</a:t>
            </a:r>
            <a:endParaRPr/>
          </a:p>
        </p:txBody>
      </p:sp>
      <p:sp>
        <p:nvSpPr>
          <p:cNvPr id="280" name="Google Shape;280;p14"/>
          <p:cNvSpPr txBox="1"/>
          <p:nvPr>
            <p:ph idx="4294967295" type="body"/>
          </p:nvPr>
        </p:nvSpPr>
        <p:spPr>
          <a:xfrm>
            <a:off x="4967287" y="1516062"/>
            <a:ext cx="4268787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t/>
            </a:r>
            <a:endParaRPr b="0" i="0" sz="2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1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Precision@k Results of TUNED SVD recommendation model</a:t>
            </a:r>
            <a:endParaRPr/>
          </a:p>
        </p:txBody>
      </p:sp>
      <p:pic>
        <p:nvPicPr>
          <p:cNvPr id="281" name="Google Shape;2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4962" y="1454150"/>
            <a:ext cx="2997200" cy="3182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Recommendations</a:t>
            </a:r>
            <a:endParaRPr/>
          </a:p>
        </p:txBody>
      </p:sp>
      <p:sp>
        <p:nvSpPr>
          <p:cNvPr id="288" name="Google Shape;288;p15"/>
          <p:cNvSpPr txBox="1"/>
          <p:nvPr>
            <p:ph idx="4294967295" type="body"/>
          </p:nvPr>
        </p:nvSpPr>
        <p:spPr>
          <a:xfrm>
            <a:off x="485775" y="1516062"/>
            <a:ext cx="8747125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7152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99"/>
              </a:buClr>
              <a:buSzPts val="1215"/>
              <a:buFont typeface="Noto Sans Symbols"/>
              <a:buChar char="●"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Mainstream tracks → Engagement</a:t>
            </a:r>
            <a:endParaRPr/>
          </a:p>
          <a:p>
            <a:pPr indent="-77152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C99"/>
              </a:buClr>
              <a:buSzPts val="1215"/>
              <a:buFont typeface="Noto Sans Symbols"/>
              <a:buChar char="●"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Genre-adjacency → Library expansion</a:t>
            </a:r>
            <a:endParaRPr/>
          </a:p>
          <a:p>
            <a:pPr indent="-77152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C99"/>
              </a:buClr>
              <a:buSzPts val="1215"/>
              <a:buFont typeface="Noto Sans Symbols"/>
              <a:buChar char="●"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Long-tail → Listener retention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idx="4294967295" type="title"/>
          </p:nvPr>
        </p:nvSpPr>
        <p:spPr>
          <a:xfrm>
            <a:off x="485775" y="257175"/>
            <a:ext cx="8747125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Recommendation &amp; Steps</a:t>
            </a:r>
            <a:endParaRPr/>
          </a:p>
        </p:txBody>
      </p:sp>
      <p:sp>
        <p:nvSpPr>
          <p:cNvPr id="295" name="Google Shape;295;p16"/>
          <p:cNvSpPr txBox="1"/>
          <p:nvPr>
            <p:ph idx="4294967295" type="body"/>
          </p:nvPr>
        </p:nvSpPr>
        <p:spPr>
          <a:xfrm>
            <a:off x="485775" y="1516062"/>
            <a:ext cx="8747125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7152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99"/>
              </a:buClr>
              <a:buSzPts val="1215"/>
              <a:buFont typeface="Noto Sans Symbols"/>
              <a:buChar char="●"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Deploy item-item collaborative filtering</a:t>
            </a:r>
            <a:endParaRPr/>
          </a:p>
          <a:p>
            <a:pPr indent="-77152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C99"/>
              </a:buClr>
              <a:buSzPts val="1215"/>
              <a:buFont typeface="Noto Sans Symbols"/>
              <a:buChar char="●"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Compute similarities offline</a:t>
            </a:r>
            <a:endParaRPr/>
          </a:p>
          <a:p>
            <a:pPr indent="-77152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C99"/>
              </a:buClr>
              <a:buSzPts val="1215"/>
              <a:buFont typeface="Noto Sans Symbols"/>
              <a:buChar char="●"/>
            </a:pP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Popular tracks used as a </a:t>
            </a:r>
            <a:r>
              <a:rPr lang="en-US" sz="2700"/>
              <a:t>default </a:t>
            </a:r>
            <a:r>
              <a:rPr b="0" i="0" lang="en-US" sz="2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new users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lyt-bluegrey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2026-01-17T07:51:30Z</dcterms:created>
</cp:coreProperties>
</file>